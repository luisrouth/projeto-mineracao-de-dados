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0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997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62124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Segmentação de Perfis de Desenvolvimento Municipal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454641" y="2486124"/>
            <a:ext cx="62346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de K-Medoids e Análise de Regras de Associação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10999" y="3110905"/>
            <a:ext cx="412200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Desigualdade Socioeconômica no Brasil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125808" y="3808115"/>
            <a:ext cx="28923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César A. Bovo • Luis O. Roth • Guilherme Perez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16148" y="3994745"/>
            <a:ext cx="21117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FATEC Rio Claro | Dezembro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Contextualização do Problema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Disparidade de Renda: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PIB per capita varia 48x (R$ 260 mil a R$ 12,5 milhões)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Heterogeneidade Educacional: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Alfabetização de 59,7% a 99% entre municípios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Urbana: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Densidade varia de 0,26 a 1.300 hab/km²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dos municípios em vulnerabilidade: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Médio Rural (43%) + Baixo Desenvolvimento (39%)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de Pesquisa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Segmentação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147826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são os padrões estruturais distintos de desenvolvimento entre municípios?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92018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Associação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148780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variáveis co-ocorrem, definindo "tipos" de municípios previsíveis?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59070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Políticas Públicas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81930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intervenções são apropriadas para cada padrão?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2600" y="1249661"/>
            <a:ext cx="6781800" cy="228600"/>
          </a:xfrm>
          <a:prstGeom prst="roundRect">
            <a:avLst>
              <a:gd name="adj" fmla="val 16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5.570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1752600" y="1630661"/>
            <a:ext cx="6781800" cy="228600"/>
          </a:xfrm>
          <a:prstGeom prst="roundRect">
            <a:avLst>
              <a:gd name="adj" fmla="val 16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UFs</a:t>
            </a:r>
            <a:endParaRPr lang="en-US" sz="960" dirty="0"/>
          </a:p>
        </p:txBody>
      </p:sp>
      <p:sp>
        <p:nvSpPr>
          <p:cNvPr id="4" name="Text 2"/>
          <p:cNvSpPr/>
          <p:nvPr/>
        </p:nvSpPr>
        <p:spPr>
          <a:xfrm>
            <a:off x="1752600" y="2011661"/>
            <a:ext cx="6781800" cy="228600"/>
          </a:xfrm>
          <a:prstGeom prst="roundRect">
            <a:avLst>
              <a:gd name="adj" fmla="val 16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2018-2024 (IBGE)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268016"/>
            <a:ext cx="116586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Municípios: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09600" y="1649016"/>
            <a:ext cx="116586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Estados: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09600" y="2030016"/>
            <a:ext cx="116586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Período: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09600" y="26974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 Principais: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089871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per capita (R$)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Alfabetização (%)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Densidade Populacional (hab/km²)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Metodologia: K-Medoids Clustering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K-Medoids?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380"/>
            <a:ext cx="79248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robusto que usa municípios reais como centros (não médias abstratas). Ideal para dados com outliers significativos.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346822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Procedimento: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788741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k = 2 a 10 clusters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Métrica: Coeficiente de Silhueta (~0,32 vs K-Means ~0,26)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4 perfis com características bem diferenciadas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4247852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Normalização: Transformação z-score de variáveis contínuas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Metodologia: Regras de Associação (Apriori)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Descobrir relacionamentos entre variáveis categóricas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767780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 Apriori: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209702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Mínimo: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5% (regra presente em ≥5% dos municípios)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 Mínima: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70% (probabilidade condicional)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24594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Complementares: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687863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Quão mais provável vs. aleatória (lift &gt; 1 = significante)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Diferença entre probabilidade conjunta e produto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99222"/>
            <a:ext cx="7924800" cy="1249561"/>
          </a:xfrm>
          <a:prstGeom prst="roundRect">
            <a:avLst>
              <a:gd name="adj" fmla="val 2927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Pré-Processamento de 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6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Limpeza: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Imputação de valores faltantes pela mediana por UF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15380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Normalização: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Transformação z-score para clustering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981102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Categorização em Faixas: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727822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Muito Baixo (&lt;500k) | Baixo | Médio | Alto | Muito Alto (&gt;10M)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301734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Alfabetização: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Baixa (&lt;70%) | Média (70-85%) | Alta (&gt;85%)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200" y="3306863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Densidade: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Muito Baixa (&lt;2) | Baixa | Média | Alta (&gt;30)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864893"/>
            <a:ext cx="7924800" cy="200392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70628"/>
            <a:ext cx="7924800" cy="190470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387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1: Polos Econômicos / Metrópoles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09349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1565875"/>
            <a:ext cx="7162800" cy="130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~62 municípios (1,1%)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Muito Alto (&gt;12M)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Alfabetização: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Alta (&gt;92%)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Muito Alta (&gt;40 hab/km²)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8200" y="3299228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771608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R$ 2,2M, 96%, 1.100 hab/km²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8200" y="4034439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 de Janeiro: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R$ 1,9M, 95%, 360 hab/km²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8200" y="4297269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Brasília: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R$ 1,5M, 97%, 500 hab/km²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8200" y="4560100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Manaus: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R$ 1,3M, 93%, 150 hab/km²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39243"/>
            <a:ext cx="7924800" cy="215635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2964210"/>
            <a:ext cx="7924800" cy="192369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52" y="99179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2: Alto Desenvolvimento / Urbano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58952" y="96784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3752" y="1440223"/>
            <a:ext cx="7162800" cy="165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~950 municípios (17%)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Alto (5M-10M R$)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Alfabetização: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Alta (&gt;90%)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Variável (5-50 hab/km²)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Agronegócio moderno, indústrias leves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79704" y="296421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79704" y="3436591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Sorriso (MT):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R$ 12,5M, 95,5%, 7 hab/km²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9704" y="3699421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Sta. Maria Oeste (PR):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R$ 2,7M, 92%, 27 hab/km²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9704" y="396225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Todas as regiões; concentrado em SC, RS, MG, SP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92950"/>
            <a:ext cx="7924800" cy="224940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179581"/>
            <a:ext cx="7924800" cy="171245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4099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3: Médio Desenvolvimento / Rural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078458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1550839"/>
            <a:ext cx="7162800" cy="165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~2.400 municípios (43%) — CRÍTICO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Médio-Baixo (500k-3M R$)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Alfabetização: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Baixa (&lt;75%, média 72%)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Muito Baixa (&lt;5 hab/km²)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~105 milhões de brasileiros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3524" y="317958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Realidade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3524" y="365196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Nordeste (maioria), Norte, Centro-Oeste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3524" y="391479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Juta (AM): R$ 266k, 72%, 0,26 hab/km²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" y="4177623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Baixa renda + baixa educação + isolamento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815283"/>
            <a:ext cx="7924800" cy="205745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56375"/>
            <a:ext cx="7924800" cy="216753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4099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4: Baixo Desenvolvimento Econômico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04388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1516263"/>
            <a:ext cx="7162800" cy="165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~2.158 municípios (38,8%)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Muito Baixo (&lt;1,5M R$)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Alfabetização: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Média-Baixa (68-82%, média 76%)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Muito Baixa (&lt;2 hab/km²)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Armadilha de pobreza documentada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3524" y="310493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Pobreza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3524" y="357731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Renda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3524" y="3840142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não financia educação 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" y="4102973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Educação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8848" y="4361923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limita produtividade 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3524" y="4607639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Pobreza Persistente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Geográfica dos Perfis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8650" y="4183382"/>
            <a:ext cx="8083296" cy="17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 crítico:</a:t>
            </a:r>
            <a:r>
              <a:rPr lang="en-US" sz="9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Nordeste concentra 45-50% de seus municípios em Médio Rural e Baixo Desenvolvimento</a:t>
            </a:r>
            <a:endParaRPr lang="en-US" sz="96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E72538E-E572-D155-760E-369736F05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183046"/>
              </p:ext>
            </p:extLst>
          </p:nvPr>
        </p:nvGraphicFramePr>
        <p:xfrm>
          <a:off x="628650" y="1337569"/>
          <a:ext cx="7886700" cy="2699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23028265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82669838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7203003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21750078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549841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44491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Região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Polos (%)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Alto Desenv. (%)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Médio Rural (%)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Baixo Desenv. (%)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Total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982906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Sudeste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30%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35%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12%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18%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980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131870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Sul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25%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10%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750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427806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Nordeste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45%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50%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1.790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2377052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Centro-Oeste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15%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15%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12%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465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293158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Norte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20%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10%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585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41932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TOTAIS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62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950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2.400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2.158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5.570</a:t>
                      </a:r>
                      <a:endParaRPr lang="pt-BR" sz="105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7046545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Associação: Polos Econômicos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4363243"/>
            <a:ext cx="7924800" cy="34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Interpretação:</a:t>
            </a: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dos municípios com combinação (Alfabetização Alta + Densidade Alta + PIB Muito Alto) são Polos. Lift 7,97 = 8x mais indicador que aleatório.</a:t>
            </a:r>
            <a:endParaRPr lang="en-US" sz="96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27FDB16-4F19-4CE0-1B5F-062AF2122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048922"/>
              </p:ext>
            </p:extLst>
          </p:nvPr>
        </p:nvGraphicFramePr>
        <p:xfrm>
          <a:off x="628650" y="1212111"/>
          <a:ext cx="7886700" cy="28920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15185830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863481149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133688904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52091022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60118812"/>
                    </a:ext>
                  </a:extLst>
                </a:gridCol>
              </a:tblGrid>
              <a:tr h="51798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ID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Antecedente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Sup.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Conf.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Lift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651846408"/>
                  </a:ext>
                </a:extLst>
              </a:tr>
              <a:tr h="928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A1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Alfa_Alta + Dens_Alta + PIB_MuitoAlto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6,1%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100%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7,97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65560454"/>
                  </a:ext>
                </a:extLst>
              </a:tr>
              <a:tr h="9280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A2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Dens_Alta + PIB_MuitoAlto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7,0%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99,2%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7,91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805021863"/>
                  </a:ext>
                </a:extLst>
              </a:tr>
              <a:tr h="51798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A3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Alfa_Alta + Dens_Alta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6,4%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98,6%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7,86</a:t>
                      </a:r>
                      <a:endParaRPr lang="pt-BR" sz="105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20937850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Associação: Médio Rural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4290244"/>
            <a:ext cx="7924800" cy="34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Crítico:</a:t>
            </a: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Baixa Alfabetização é o marcador mais forte de ruralidade. 94,5% de TODOS os municípios com baixa alfabetização = Médio Rural.</a:t>
            </a:r>
            <a:endParaRPr lang="en-US" sz="96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220CC78-207D-4BA7-A3B2-ED187F855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919209"/>
              </p:ext>
            </p:extLst>
          </p:nvPr>
        </p:nvGraphicFramePr>
        <p:xfrm>
          <a:off x="609600" y="1103552"/>
          <a:ext cx="7886700" cy="3104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1049711829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896957904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260757519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35307485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1133405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ID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Antecedente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Sup.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Conf.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Lift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45238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B1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Alfa_Baixa + Dens_Baixa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16,2%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99,1%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3,34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50261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B2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Alfa_Baixa + Dens_Baixa + PIB_Medio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5,2%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100%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3,37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168956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B3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Alfa_Baixa + Dens_Baixa + PIB_Baixo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7,0%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99,2%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3,35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583285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B4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Alfa_Baixa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28,4%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94,5%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3,19</a:t>
                      </a:r>
                      <a:endParaRPr lang="pt-BR" sz="105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26700406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Associação: Baixo Desenvolvimento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4363244"/>
            <a:ext cx="8083296" cy="17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Padrão:</a:t>
            </a: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Educação intermediária (70-80%) + renda baixa definem grupo distinto. Componente estadual (MG) modula o padrão.</a:t>
            </a:r>
            <a:endParaRPr lang="en-US" sz="96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744D405-0428-5EBC-5507-0DAAC71B4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369450"/>
              </p:ext>
            </p:extLst>
          </p:nvPr>
        </p:nvGraphicFramePr>
        <p:xfrm>
          <a:off x="628650" y="1197934"/>
          <a:ext cx="7886700" cy="30692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4197517767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661740224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33584441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99268489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852338097"/>
                    </a:ext>
                  </a:extLst>
                </a:gridCol>
              </a:tblGrid>
              <a:tr h="54972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ID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Antecedente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Sup.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Conf.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Lift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2583149290"/>
                  </a:ext>
                </a:extLst>
              </a:tr>
              <a:tr h="98490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C1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Alfa_Media + PIB_Baixo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8,3%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97,1%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3,35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800704920"/>
                  </a:ext>
                </a:extLst>
              </a:tr>
              <a:tr h="98490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C2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Alfa_Media + Dens_MuitoBaixa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8,3%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79,0%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2,73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3872428972"/>
                  </a:ext>
                </a:extLst>
              </a:tr>
              <a:tr h="54972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C3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Alfa_Media + UF_MG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5,5%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77,9%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2,69</a:t>
                      </a:r>
                      <a:endParaRPr lang="pt-BR" sz="105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6836963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Políticas: Polos Econômicos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Reduzir desigualdade intra-municipal (favelas vs. centros ricos)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380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 Prazo (2-4 anos):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981107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em periferias: creches, escolas tempo integral, cursos técnicos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 integrado: tarifas sociais, integração ônibus/metrô/trem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86494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Prazo (5-10 anos):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30668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Urbanização de favelas: saneamento, pavimentação, regularização fundiária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Encadeamento produtivo: incentivos para subcontratação de municípios vizinhos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Políticas: Médio Desenvolvimento / Rural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Elevar alfabetização e produtividade rural; conectar ao mercado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380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Crítico: Congrega 43% dos municípios brasileiros (~105 milhões de pessoas)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981107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 Prazo (2-4 anos):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46824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EJA Intensivo: 500 mil adultos/ano alfabetizados em zonas rurais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Extensão Rural: assistência técnica, sementes melhoradas, crédito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banda larga: 80% de cobertura até 2027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Médio Rural: Médio Prazo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Prazo (5-10 anos):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380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Produtiva: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Estradas vicinais pavimentadas (↓ 30-40% custo escoamento)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Armazenagem: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Silos e câmaras frias (↓ perdas de 20% para 5-10%)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Irrigação: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Sistemas comunitários no semiárido (Nordeste, Centro-Oeste)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APLs Rurais: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Arranjos produtivos locais com agregação de valor (agroindústrias)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497368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+40-60% renda agrícola; 200-300 mil empregos rurais não-agrícolas em 10 anos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Políticas: Baixo Desenvolvimento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Romper armadilha de pobreza; gerar empregos; universalizar educação básica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380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 Prazo (2-4 anos):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981107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Alimentar: Bolsa Família reforçada + merenda 3 refeições/dia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Microempreendedor (MEI): crédito assistido (até R$ 30 mil, 3-5% a.a.)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86494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Prazo (5-10 anos):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30668"/>
            <a:ext cx="762000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Cidades-Base Regionais: concentrar investimentos (hospital, escola técnica, logística, faculdade pública)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5181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Integrada de Políticas (Resumo)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4459238"/>
            <a:ext cx="8083296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Legenda:</a:t>
            </a: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C=Curto Prazo (2-4 anos), M=Médio (5-10 anos), L=Longo (10-20 anos)</a:t>
            </a:r>
            <a:endParaRPr lang="en-US" sz="84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C5BF54D-E997-F1AA-0455-CAC810435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079127"/>
              </p:ext>
            </p:extLst>
          </p:nvPr>
        </p:nvGraphicFramePr>
        <p:xfrm>
          <a:off x="609600" y="746236"/>
          <a:ext cx="7502475" cy="36343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0495">
                  <a:extLst>
                    <a:ext uri="{9D8B030D-6E8A-4147-A177-3AD203B41FA5}">
                      <a16:colId xmlns:a16="http://schemas.microsoft.com/office/drawing/2014/main" val="730432423"/>
                    </a:ext>
                  </a:extLst>
                </a:gridCol>
                <a:gridCol w="1500495">
                  <a:extLst>
                    <a:ext uri="{9D8B030D-6E8A-4147-A177-3AD203B41FA5}">
                      <a16:colId xmlns:a16="http://schemas.microsoft.com/office/drawing/2014/main" val="639897872"/>
                    </a:ext>
                  </a:extLst>
                </a:gridCol>
                <a:gridCol w="1500495">
                  <a:extLst>
                    <a:ext uri="{9D8B030D-6E8A-4147-A177-3AD203B41FA5}">
                      <a16:colId xmlns:a16="http://schemas.microsoft.com/office/drawing/2014/main" val="2461146059"/>
                    </a:ext>
                  </a:extLst>
                </a:gridCol>
                <a:gridCol w="1500495">
                  <a:extLst>
                    <a:ext uri="{9D8B030D-6E8A-4147-A177-3AD203B41FA5}">
                      <a16:colId xmlns:a16="http://schemas.microsoft.com/office/drawing/2014/main" val="2574313112"/>
                    </a:ext>
                  </a:extLst>
                </a:gridCol>
                <a:gridCol w="1500495">
                  <a:extLst>
                    <a:ext uri="{9D8B030D-6E8A-4147-A177-3AD203B41FA5}">
                      <a16:colId xmlns:a16="http://schemas.microsoft.com/office/drawing/2014/main" val="463537220"/>
                    </a:ext>
                  </a:extLst>
                </a:gridCol>
              </a:tblGrid>
              <a:tr h="3634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Eixo de Política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Polos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Alto Desenv.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Médio Rural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Baixo Desenv.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extLst>
                  <a:ext uri="{0D108BD9-81ED-4DB2-BD59-A6C34878D82A}">
                    <a16:rowId xmlns:a16="http://schemas.microsoft.com/office/drawing/2014/main" val="177350282"/>
                  </a:ext>
                </a:extLst>
              </a:tr>
              <a:tr h="6541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EDUCAÇÃO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Técnica periferias (C/P)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Superior + inovação (C/P)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EJA + Extensão (C/P)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EJA + Básico (C)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extLst>
                  <a:ext uri="{0D108BD9-81ED-4DB2-BD59-A6C34878D82A}">
                    <a16:rowId xmlns:a16="http://schemas.microsoft.com/office/drawing/2014/main" val="3141416140"/>
                  </a:ext>
                </a:extLst>
              </a:tr>
              <a:tr h="6541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RENDA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Transporte centro-periferia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Agronegócio moderno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Renda + APLs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Bolsa Família + MEI (C/P)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extLst>
                  <a:ext uri="{0D108BD9-81ED-4DB2-BD59-A6C34878D82A}">
                    <a16:rowId xmlns:a16="http://schemas.microsoft.com/office/drawing/2014/main" val="1522060324"/>
                  </a:ext>
                </a:extLst>
              </a:tr>
              <a:tr h="6541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INFRAESTRUTURA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Habitação + urbanização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Mobilidade urbana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Estradas + Silos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Cidades-base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extLst>
                  <a:ext uri="{0D108BD9-81ED-4DB2-BD59-A6C34878D82A}">
                    <a16:rowId xmlns:a16="http://schemas.microsoft.com/office/drawing/2014/main" val="2907450988"/>
                  </a:ext>
                </a:extLst>
              </a:tr>
              <a:tr h="6541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CONECTIVIDADE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Transporte integrado (C/P)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BRT/Metrô leve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Internet banda larga (C/P)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Conectividade + telemedicina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extLst>
                  <a:ext uri="{0D108BD9-81ED-4DB2-BD59-A6C34878D82A}">
                    <a16:rowId xmlns:a16="http://schemas.microsoft.com/office/drawing/2014/main" val="175078624"/>
                  </a:ext>
                </a:extLst>
              </a:tr>
              <a:tr h="6541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PRODUÇÃO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Encadeamento regional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Integração com polos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Diversificação rural (M/P)</a:t>
                      </a:r>
                      <a:endParaRPr lang="pt-BR" sz="100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100" dirty="0">
                          <a:effectLst/>
                        </a:rPr>
                        <a:t>Corredores logísticos (L/P)</a:t>
                      </a:r>
                      <a:endParaRPr lang="pt-BR" sz="100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6650" marR="96650" marT="48325" marB="48325" anchor="ctr"/>
                </a:tc>
                <a:extLst>
                  <a:ext uri="{0D108BD9-81ED-4DB2-BD59-A6C34878D82A}">
                    <a16:rowId xmlns:a16="http://schemas.microsoft.com/office/drawing/2014/main" val="22818922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Monitoramento (Outputs)</a:t>
            </a:r>
            <a:endParaRPr lang="en-US" sz="27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4D71D6D-DB6E-ACFF-DC4D-173C17874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73713"/>
              </p:ext>
            </p:extLst>
          </p:nvPr>
        </p:nvGraphicFramePr>
        <p:xfrm>
          <a:off x="628650" y="1134140"/>
          <a:ext cx="7886700" cy="33666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20512139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44172326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520874001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4997609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27258233"/>
                    </a:ext>
                  </a:extLst>
                </a:gridCol>
              </a:tblGrid>
              <a:tr h="3922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Política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Indicador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Meta 2027*</a:t>
                      </a:r>
                      <a:endParaRPr lang="pt-BR" sz="105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Meta 2032*</a:t>
                      </a:r>
                      <a:endParaRPr lang="pt-BR" sz="105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Fonte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489166280"/>
                  </a:ext>
                </a:extLst>
              </a:tr>
              <a:tr h="3922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EJA Intensivo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Adultos alfabetizados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 mi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 mi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INEP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405898733"/>
                  </a:ext>
                </a:extLst>
              </a:tr>
              <a:tr h="3922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Extensão Rural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Produtores assistidos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1,5 mi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4 mi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Emater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2609547608"/>
                  </a:ext>
                </a:extLst>
              </a:tr>
              <a:tr h="7027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Habitação Favelas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Domicílios urbanizados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500 k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 mi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SNHIS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250601336"/>
                  </a:ext>
                </a:extLst>
              </a:tr>
              <a:tr h="3922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Cidades-Base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Hubs operacionais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20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MDS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549671635"/>
                  </a:ext>
                </a:extLst>
              </a:tr>
              <a:tr h="3922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Estradas Rurais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Km pavimentados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 k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15 k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DNIT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766255872"/>
                  </a:ext>
                </a:extLst>
              </a:tr>
              <a:tr h="70273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Educação Técnica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Matriculados periferias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80 k/ano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200 k/ano</a:t>
                      </a:r>
                      <a:endParaRPr lang="pt-BR" sz="105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INEP</a:t>
                      </a:r>
                      <a:endParaRPr lang="pt-BR" sz="1050" dirty="0"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2079514307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958C724D-2044-43A7-5596-4B520CB20BF3}"/>
              </a:ext>
            </a:extLst>
          </p:cNvPr>
          <p:cNvSpPr txBox="1"/>
          <p:nvPr/>
        </p:nvSpPr>
        <p:spPr>
          <a:xfrm>
            <a:off x="479795" y="4500755"/>
            <a:ext cx="778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solidFill>
                  <a:schemeClr val="bg1"/>
                </a:solidFill>
              </a:rPr>
              <a:t>*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sz="800" dirty="0">
                <a:solidFill>
                  <a:schemeClr val="bg1"/>
                </a:solidFill>
              </a:rPr>
              <a:t>Estimativas em dados anteriores – precisam de estudo conjunto com as fontes e o poder público local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986730"/>
          </a:xfrm>
          <a:prstGeom prst="roundRect">
            <a:avLst>
              <a:gd name="adj" fmla="val 3706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64994"/>
            <a:ext cx="7924800" cy="986730"/>
          </a:xfrm>
          <a:prstGeom prst="roundRect">
            <a:avLst>
              <a:gd name="adj" fmla="val 3706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80324"/>
            <a:ext cx="7924800" cy="986730"/>
          </a:xfrm>
          <a:prstGeom prst="roundRect">
            <a:avLst>
              <a:gd name="adj" fmla="val 37068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Achados Principais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3"/>
            <a:ext cx="761695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Segmentação Clara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200" y="1794477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perfis distintos (K-Medoids silhueta 0,32) = não é continuum, mas padrões estruturais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93594"/>
            <a:ext cx="761695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Regras Previsíveis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38200" y="3009807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 70-100% e lift 2,4-8,0: características co-ocorrem de forma altamente previsível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908924"/>
            <a:ext cx="7616952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82% em Vulnerabilidade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8200" y="4225137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Rural (43%) + Baixo Desenvolvimento (39%) = 100-110 milhões de brasileiros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Armadilha de Pobreza é Real: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Correlação clara entre baixa renda → baixa educação → baixa produtividade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380"/>
            <a:ext cx="79248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"Um Único Eixo" Falham: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Necessário abordagem integrada (educação + renda + infraestrutura + conectividade)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194424"/>
            <a:ext cx="79248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Regional Crítico: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Nordeste requer estratégias estaduais coordenadas (45-50% de seus municípios em risco)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773468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Permanente: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Necessário célula federal de análise territorial a cada 2 anos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139185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Alocação Orçamentária: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Proporcional aos perfis: 40% Médio Rural + 35% Baixo Desenvolvimento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para Tomadores de Decisão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Federal: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380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Célula permanente de análise territorial (atualização bienal)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Integrado financiando simultaneamente 4 eixos de política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499224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Estadual: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864941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Replicação de análise para segmentação micro-regional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coordenado entre secretarias (Educação, Agricultura, Desenvolvimento, Saúde)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3748785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Municipal: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114502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participativo baseado no perfil local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com indicadores educacionais e de renda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8057" y="1388864"/>
            <a:ext cx="222788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66885" y="2166045"/>
            <a:ext cx="8101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138054" y="2889945"/>
            <a:ext cx="28677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César A. Bovo | Luis O. Roth | Guilherme Perez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16148" y="3076575"/>
            <a:ext cx="21117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FATEC Rio Claro | Dezembro 2025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64153" y="3568005"/>
            <a:ext cx="26155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1921</Words>
  <Application>Microsoft Office PowerPoint</Application>
  <PresentationFormat>Apresentação na tela (16:9)</PresentationFormat>
  <Paragraphs>362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8" baseType="lpstr">
      <vt:lpstr>Arial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Medeiros Sarti</cp:lastModifiedBy>
  <cp:revision>11</cp:revision>
  <dcterms:created xsi:type="dcterms:W3CDTF">2025-12-05T02:54:01Z</dcterms:created>
  <dcterms:modified xsi:type="dcterms:W3CDTF">2025-12-05T03:45:27Z</dcterms:modified>
</cp:coreProperties>
</file>